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5" r:id="rId9"/>
    <p:sldId id="266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9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42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A258-BE1A-081A-465F-E3BA2719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805D7-C569-F7C5-B2B4-951115F67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E81EA-B527-5B28-45EE-69FE9DD4F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D7343-D4D5-28AE-9593-5900E3463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87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45287-741E-391E-7E06-831A5E49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01622-548D-AC8C-015F-BB1CB37F9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B1185-09A2-9237-56E9-BF1B858D4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F6F39-D795-0A2D-C07F-365DDACBC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94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D18F-E44A-3DF6-3C33-3F8ABA7DA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50BFF-7E0C-9B15-E4B8-5BEB8D0A6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EAC2A-DC49-E48A-8032-65722BF8E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343DE-E186-5523-EFCB-370CD3C10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8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chenxi.pythonanywhere.com/docs" TargetMode="External"/><Relationship Id="rId7" Type="http://schemas.openxmlformats.org/officeDocument/2006/relationships/hyperlink" Target="https://pan.baidu.com/s/1vxoabSBIEFR8bu7B1R98BQ?pwd=q3m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UspzW6NKdCV6bREEXfJEeEzfvv2kEZGd/view?usp=drive_link" TargetMode="External"/><Relationship Id="rId5" Type="http://schemas.openxmlformats.org/officeDocument/2006/relationships/hyperlink" Target="https://leeds365-my.sharepoint.com/:v:/g/personal/sc222cl_leeds_ac_uk/IQAh4GVjmN3KRK-DVC8xJabmAUbIeYS8jT3dkmSnX4JH6dg?e=OM1BBh" TargetMode="External"/><Relationship Id="rId4" Type="http://schemas.openxmlformats.org/officeDocument/2006/relationships/hyperlink" Target="https://lichenxi.pythonanywhere.com/redo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lcx-0504/Web-Service-and-Data-CW1/blob/main/docs/api-documentation.pdf" TargetMode="External"/><Relationship Id="rId13" Type="http://schemas.openxmlformats.org/officeDocument/2006/relationships/hyperlink" Target="https://github.com/lcx-0504/Web-Service-and-Data-CW1/tree/main?tab=readme-ov-file#mcp-demo-video" TargetMode="External"/><Relationship Id="rId3" Type="http://schemas.openxmlformats.org/officeDocument/2006/relationships/hyperlink" Target="https://github.com/lcx-0504/Web-Service-and-Data-CW1" TargetMode="External"/><Relationship Id="rId7" Type="http://schemas.openxmlformats.org/officeDocument/2006/relationships/hyperlink" Target="https://lichenxi.pythonanywhere.com/redoc" TargetMode="External"/><Relationship Id="rId12" Type="http://schemas.openxmlformats.org/officeDocument/2006/relationships/hyperlink" Target="https://github.com/lcx-0504/Web-Service-and-Data-CW1/blob/main/mcp_server/server.p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chenxi.pythonanywhere.com/docs" TargetMode="External"/><Relationship Id="rId11" Type="http://schemas.openxmlformats.org/officeDocument/2006/relationships/hyperlink" Target="https://github.com/lcx-0504/Web-Service-and-Data-CW1/tree/main/docs/genai-logs" TargetMode="External"/><Relationship Id="rId5" Type="http://schemas.openxmlformats.org/officeDocument/2006/relationships/hyperlink" Target="https://lichenxi.pythonanywhere.com/" TargetMode="External"/><Relationship Id="rId15" Type="http://schemas.openxmlformats.org/officeDocument/2006/relationships/hyperlink" Target="https://github.com/lcx-0504/Web-Service-and-Data-CW1/blob/main/docs/test-results.txt" TargetMode="External"/><Relationship Id="rId10" Type="http://schemas.openxmlformats.org/officeDocument/2006/relationships/hyperlink" Target="https://github.com/lcx-0504/Web-Service-and-Data-CW1/blob/main/docs/presentation.pdf" TargetMode="External"/><Relationship Id="rId4" Type="http://schemas.openxmlformats.org/officeDocument/2006/relationships/hyperlink" Target="https://github.com/lcx-0504/Web-Service-and-Data-CW1/commits/main" TargetMode="External"/><Relationship Id="rId9" Type="http://schemas.openxmlformats.org/officeDocument/2006/relationships/hyperlink" Target="https://github.com/lcx-0504/Web-Service-and-Data-CW1/blob/main/docs/technical-report.pdf" TargetMode="External"/><Relationship Id="rId14" Type="http://schemas.openxmlformats.org/officeDocument/2006/relationships/hyperlink" Target="https://github.com/lcx-0504/Web-Service-and-Data-CW1/blob/main/backend/tests/test_api.py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NutriTrack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Nutrition Tracking &amp; Analysis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Chenxi Li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XJCO3011 Web Services and Web Data — Coursework 1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https://lichenxi.pythonanywhere.com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lack programmable tools to track nutrition — NutriTrack bridges this gap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daily nutritional intake is complex and tedious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are either too complex or not programmable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assistants cannot directly interact with nutrition databases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NutriTrack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built on USDA SR Legacy dataset</a:t>
            </a:r>
            <a:endParaRPr lang="en-US" sz="16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7,793 foods across 25 categories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search with relevance ranking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logging with full CRUD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Nutritional analytics (daily/weekly/balance)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integration → AI can call the API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SQLite + MCP enables a lightweight yet fully-featured nutrition 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Swagger docs, Pydantic validation, lightweight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Zero-config, portable, sufficient for ~7,800 records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SQLAlchemy 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Alembic migrations, complex query support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(python-jose)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Stateless, RESTful-aligned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FastMCP SDK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Python SDK, stdio transport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9723"/>
            <a:ext cx="8229600" cy="1240746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Clients / MCP Server  →  FastAPI (17 endpoints)  →  SQLite (7,793 foods + users + meals)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(JWT) · Foods (search/categories) · Meals (CRUD) · Analytics (daily/weekly/balance) · User Profile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search, two-tier validation, and personalised analysis are the key design decisions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Data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Meal → MealItem → Food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chain with foreign keys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Search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2-level relevance ranking: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starts-with &gt; contains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category filter (25 categories)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Two-Tier Input Validation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reject: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values (negative weight, future dates)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warning: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"Weight 130 kg is unusually high. Please verify."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Nutrition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30632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Mifflin-St Jeor equation for BMR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Adjusts for age, gender, height, weight, activity level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analysis: low / ok / high per nutrient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37D6-D506-0A98-6325-634FC922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2178BA-9893-086B-FE34-77DF1F39DACF}"/>
              </a:ext>
            </a:extLst>
          </p:cNvPr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ER Diagram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EE9697B-0C5C-7A24-71E4-7B3D5A3BF024}"/>
              </a:ext>
            </a:extLst>
          </p:cNvPr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8327036-B300-4ED0-D09C-AD6839D14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2109"/>
            <a:ext cx="8229600" cy="249720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465DBC0-B850-C5B6-90D3-3DBCFDD56850}"/>
              </a:ext>
            </a:extLst>
          </p:cNvPr>
          <p:cNvSpPr txBox="1"/>
          <p:nvPr/>
        </p:nvSpPr>
        <p:spPr>
          <a:xfrm>
            <a:off x="457200" y="3865166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b="1" i="0" dirty="0">
                <a:solidFill>
                  <a:srgbClr val="1F2328"/>
                </a:solidFill>
                <a:effectLst/>
                <a:latin typeface="-apple-system"/>
              </a:rPr>
              <a:t>Relationships:</a:t>
            </a:r>
            <a:r>
              <a:rPr lang="en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 User 1 - N Meal (one user has many meals) · Meal 1 - N </a:t>
            </a:r>
            <a:r>
              <a:rPr lang="en" altLang="zh-CN" sz="1600" b="0" i="0" dirty="0" err="1">
                <a:solidFill>
                  <a:srgbClr val="1F2328"/>
                </a:solidFill>
                <a:effectLst/>
                <a:latin typeface="-apple-system"/>
              </a:rPr>
              <a:t>MealItem</a:t>
            </a:r>
            <a:r>
              <a:rPr lang="en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 (one meal contains many items) · Food 1 - N </a:t>
            </a:r>
            <a:r>
              <a:rPr lang="en" altLang="zh-CN" sz="1600" b="0" i="0" dirty="0" err="1">
                <a:solidFill>
                  <a:srgbClr val="1F2328"/>
                </a:solidFill>
                <a:effectLst/>
                <a:latin typeface="-apple-system"/>
              </a:rPr>
              <a:t>MealItem</a:t>
            </a:r>
            <a:r>
              <a:rPr lang="en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 (one food appears in many items) · </a:t>
            </a:r>
            <a:r>
              <a:rPr lang="en" altLang="zh-CN" sz="1600" b="1" i="0" dirty="0">
                <a:solidFill>
                  <a:srgbClr val="1F2328"/>
                </a:solidFill>
                <a:effectLst/>
                <a:latin typeface="-apple-system"/>
              </a:rPr>
              <a:t>Food N - N Meal</a:t>
            </a:r>
            <a:r>
              <a:rPr lang="en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 (many-to-many via </a:t>
            </a:r>
            <a:r>
              <a:rPr lang="en" altLang="zh-CN" sz="1600" b="0" i="0" dirty="0" err="1">
                <a:solidFill>
                  <a:srgbClr val="1F2328"/>
                </a:solidFill>
                <a:effectLst/>
                <a:latin typeface="-apple-system"/>
              </a:rPr>
              <a:t>MealItem</a:t>
            </a:r>
            <a:r>
              <a:rPr lang="en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 junction table)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0501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integration enables AI assistants to call all 16 API tools via natural language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MCP?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— open standard by Anthropic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AI assistants to call external tools via structured interface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 transport, works with Claude Desktop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01953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MCP Server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93172" y="1531620"/>
            <a:ext cx="465082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tools covering all API endpoints</a:t>
            </a:r>
            <a:endParaRPr lang="en-US" sz="1400" b="1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CRUD: search, log, update, delete meals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Analytics: daily summary, weekly trends, balance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management: register, login, profile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r>
              <a:rPr lang="en-US" sz="15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"Log a lunch with chicken breast and rice"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calls search_food("chicken breast") → log_meal({items: [...]}) → returns confirmation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shows AI-powered meal logging through MCP + 17 Swagger endpoints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Demo (video clip)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45347" y="1436792"/>
            <a:ext cx="3840480" cy="2217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searches for food → search_food tool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logs a meal → log_meal tool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shows summary → </a:t>
            </a:r>
            <a:r>
              <a:rPr lang="en-US" sz="18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get_daily_summary</a:t>
            </a: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Desktop discovers all 16 tools automatically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 — 17 Endpoints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368213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register, login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Foods: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categories, by-category, by-id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Meals: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list, detail, update, delete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Analytics: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summary, weekly trend, balance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profile, update profile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58175" y="3654213"/>
            <a:ext cx="4285825" cy="1166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" altLang="zh-CN" sz="1200" b="1" dirty="0">
                <a:solidFill>
                  <a:srgbClr val="777777"/>
                </a:solidFill>
                <a:latin typeface="Arial" pitchFamily="34" charset="0"/>
                <a:cs typeface="Arial" pitchFamily="34" charset="-120"/>
              </a:rPr>
              <a:t>Online API Doc</a:t>
            </a:r>
            <a:r>
              <a:rPr lang="en-US" altLang="zh-CN" sz="1200" b="1" dirty="0">
                <a:solidFill>
                  <a:srgbClr val="777777"/>
                </a:solidFill>
                <a:latin typeface="Arial" pitchFamily="34" charset="0"/>
                <a:cs typeface="Arial" pitchFamily="34" charset="-120"/>
              </a:rPr>
              <a:t>: </a:t>
            </a:r>
            <a:endParaRPr lang="en-US" sz="1200" b="1" dirty="0">
              <a:solidFill>
                <a:srgbClr val="777777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</a:t>
            </a:r>
            <a:r>
              <a:rPr lang="zh-CN" alt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r>
              <a:rPr lang="zh-CN" alt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</a:t>
            </a:r>
            <a:r>
              <a:rPr lang="en-US" sz="1200" dirty="0" err="1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</a:t>
            </a: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://lichenxi.pythonanywhere.com/docs</a:t>
            </a:r>
            <a:endParaRPr lang="en-US" sz="1200" dirty="0">
              <a:solidFill>
                <a:srgbClr val="77777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200" dirty="0" err="1">
                <a:solidFill>
                  <a:srgbClr val="777777"/>
                </a:solidFill>
                <a:latin typeface="Arial" pitchFamily="34" charset="0"/>
                <a:cs typeface="Arial" pitchFamily="34" charset="-120"/>
              </a:rPr>
              <a:t>ReDoc:</a:t>
            </a:r>
            <a:r>
              <a:rPr lang="en-US" sz="1200" dirty="0" err="1">
                <a:solidFill>
                  <a:srgbClr val="777777"/>
                </a:solidFill>
                <a:latin typeface="Arial" pitchFamily="34" charset="0"/>
                <a:cs typeface="Arial" pitchFamily="34" charset="-120"/>
                <a:hlinkClick r:id="rId4"/>
              </a:rPr>
              <a:t>https</a:t>
            </a:r>
            <a:r>
              <a:rPr lang="en-US" sz="1200" dirty="0">
                <a:solidFill>
                  <a:srgbClr val="777777"/>
                </a:solidFill>
                <a:latin typeface="Arial" pitchFamily="34" charset="0"/>
                <a:cs typeface="Arial" pitchFamily="34" charset="-120"/>
                <a:hlinkClick r:id="rId4"/>
              </a:rPr>
              <a:t>://lichenxi.pythonanywhere.com/redoc</a:t>
            </a:r>
            <a:endParaRPr lang="en-US" sz="1200" dirty="0">
              <a:solidFill>
                <a:srgbClr val="777777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4D500D-254D-EC71-B86D-93DF2C147AD5}"/>
              </a:ext>
            </a:extLst>
          </p:cNvPr>
          <p:cNvSpPr txBox="1"/>
          <p:nvPr/>
        </p:nvSpPr>
        <p:spPr>
          <a:xfrm>
            <a:off x="445347" y="3505623"/>
            <a:ext cx="4400973" cy="146388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algn="r">
              <a:buNone/>
              <a:defRPr sz="120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/>
            <a:r>
              <a:rPr lang="en" altLang="zh-CN" b="1" dirty="0"/>
              <a:t>MCP</a:t>
            </a:r>
            <a:r>
              <a:rPr lang="en-US" altLang="zh-CN" b="1" dirty="0"/>
              <a:t> Video: </a:t>
            </a:r>
            <a:endParaRPr lang="en" altLang="zh-CN" b="1" dirty="0"/>
          </a:p>
          <a:p>
            <a:pPr algn="l"/>
            <a:r>
              <a:rPr lang="en" altLang="zh-CN" dirty="0"/>
              <a:t>OneDrive (login required): </a:t>
            </a:r>
            <a:r>
              <a:rPr lang="en" altLang="zh-CN" dirty="0">
                <a:hlinkClick r:id="rId5"/>
              </a:rPr>
              <a:t>Nutritrack MCP Test.mp4</a:t>
            </a:r>
            <a:endParaRPr lang="en" altLang="zh-CN" dirty="0"/>
          </a:p>
          <a:p>
            <a:pPr algn="l"/>
            <a:r>
              <a:rPr lang="en" altLang="zh-CN" dirty="0"/>
              <a:t>Google Drive: </a:t>
            </a:r>
            <a:r>
              <a:rPr lang="en" altLang="zh-CN" dirty="0">
                <a:hlinkClick r:id="rId6"/>
              </a:rPr>
              <a:t>Nutritrack MCP Test.mp4</a:t>
            </a:r>
            <a:endParaRPr lang="en" altLang="zh-CN" dirty="0"/>
          </a:p>
          <a:p>
            <a:pPr algn="l"/>
            <a:r>
              <a:rPr lang="en" altLang="zh-CN" dirty="0"/>
              <a:t>Baidu Pan: </a:t>
            </a:r>
            <a:r>
              <a:rPr lang="en" altLang="zh-CN" dirty="0">
                <a:hlinkClick r:id="rId7"/>
              </a:rPr>
              <a:t>Nutritrack MCP Test.mp4</a:t>
            </a:r>
            <a:r>
              <a:rPr lang="en" altLang="zh-CN" dirty="0"/>
              <a:t> (Password: q3md)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6A04F-372D-A17C-4A90-3E9868FDC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4D4202-2536-4CD0-8B8C-69D369896565}"/>
              </a:ext>
            </a:extLst>
          </p:cNvPr>
          <p:cNvSpPr/>
          <p:nvPr/>
        </p:nvSpPr>
        <p:spPr>
          <a:xfrm>
            <a:off x="457200" y="182880"/>
            <a:ext cx="8229600" cy="471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rPr lang="en" altLang="zh-CN" sz="2400" b="1" dirty="0">
                <a:solidFill>
                  <a:srgbClr val="1F4E79"/>
                </a:solidFill>
                <a:latin typeface="Arial" pitchFamily="34" charset="0"/>
                <a:cs typeface="Arial" pitchFamily="34" charset="-120"/>
              </a:rPr>
              <a:t>Version Control &amp; Testing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A0E008-6A3B-91C2-3184-5ED163322718}"/>
              </a:ext>
            </a:extLst>
          </p:cNvPr>
          <p:cNvSpPr/>
          <p:nvPr/>
        </p:nvSpPr>
        <p:spPr>
          <a:xfrm>
            <a:off x="457200" y="675169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BF14A93C-391D-6BDE-9F17-E4D821E50102}"/>
              </a:ext>
            </a:extLst>
          </p:cNvPr>
          <p:cNvSpPr txBox="1"/>
          <p:nvPr/>
        </p:nvSpPr>
        <p:spPr>
          <a:xfrm>
            <a:off x="457200" y="1038337"/>
            <a:ext cx="5672470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2D5A8E"/>
                </a:solidFill>
              </a:defRPr>
            </a:pPr>
            <a:r>
              <a:rPr sz="1600" b="1" dirty="0">
                <a:solidFill>
                  <a:srgbClr val="2E75B6"/>
                </a:solidFill>
                <a:latin typeface="Arial" pitchFamily="34" charset="0"/>
                <a:cs typeface="Arial" pitchFamily="34" charset="-120"/>
              </a:rPr>
              <a:t>Git History (16 commits)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d0c475d  Initial commit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27f54a1  feat: project skeleton, models, alembic migration, USDA import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4a7d494  feat: JWT auth, Food read API, Meal CRUD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6924269  feat: nutrition analytics (daily/weekly/balance)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70637d4  feat: user profile + personalized nutrition + MCP tools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1b744b7  feat: input validation — hard reject + soft warnings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6789771  feat: search improvements + MCP demo assets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f0b77d1  refactor: async → sync for PythonAnywhere WSGI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82f5857  test: 28 integration tests with configurable base URL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9f5e14d + 2c51ea0  docs: API docs, tech report, presentation, </a:t>
            </a:r>
            <a:r>
              <a:rPr sz="1200" dirty="0" err="1"/>
              <a:t>genai</a:t>
            </a:r>
            <a:r>
              <a:rPr sz="1200" dirty="0"/>
              <a:t> logs</a:t>
            </a:r>
          </a:p>
          <a:p>
            <a:pPr>
              <a:spcBef>
                <a:spcPts val="1200"/>
              </a:spcBef>
              <a:defRPr sz="1800" b="1">
                <a:solidFill>
                  <a:srgbClr val="2D5A8E"/>
                </a:solidFill>
              </a:defRPr>
            </a:pPr>
            <a:r>
              <a:rPr sz="1600" b="1" dirty="0">
                <a:solidFill>
                  <a:srgbClr val="2E75B6"/>
                </a:solidFill>
                <a:latin typeface="Arial" pitchFamily="34" charset="0"/>
                <a:cs typeface="Arial" pitchFamily="34" charset="-120"/>
              </a:rPr>
              <a:t>Testing (28 integration tests)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Auth, Foods, Meals CRUD, Analytics, User Profile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Configurable: local (127.0.0.1:8000) or remote (PythonAnywhere)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</a:defRPr>
            </a:pPr>
            <a:r>
              <a:rPr sz="1200" dirty="0"/>
              <a:t>Edge cases: duplicate registration, unauthorized access, future dates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FE0FFBD-3221-5160-4A1F-088973E74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887" y="1038337"/>
            <a:ext cx="3293913" cy="361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3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E367-4701-B095-4927-3FF9EAB4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81DB40-B023-443F-6F52-D30D51117CDD}"/>
              </a:ext>
            </a:extLst>
          </p:cNvPr>
          <p:cNvSpPr/>
          <p:nvPr/>
        </p:nvSpPr>
        <p:spPr>
          <a:xfrm>
            <a:off x="457200" y="182880"/>
            <a:ext cx="8229600" cy="471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rPr lang="en" altLang="zh-CN" sz="2400" b="1" dirty="0">
                <a:solidFill>
                  <a:srgbClr val="1F4E79"/>
                </a:solidFill>
                <a:latin typeface="Arial" pitchFamily="34" charset="0"/>
                <a:cs typeface="Arial" pitchFamily="34" charset="-120"/>
              </a:rPr>
              <a:t>Links &amp; Deliverables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AD6A55-1238-10EC-3EB9-4B3B8773BD6A}"/>
              </a:ext>
            </a:extLst>
          </p:cNvPr>
          <p:cNvSpPr/>
          <p:nvPr/>
        </p:nvSpPr>
        <p:spPr>
          <a:xfrm>
            <a:off x="457200" y="675169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7A967DF-7A55-81D6-E3F1-B667BC20B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195262"/>
              </p:ext>
            </p:extLst>
          </p:nvPr>
        </p:nvGraphicFramePr>
        <p:xfrm>
          <a:off x="457199" y="814984"/>
          <a:ext cx="8229600" cy="405312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70052">
                  <a:extLst>
                    <a:ext uri="{9D8B030D-6E8A-4147-A177-3AD203B41FA5}">
                      <a16:colId xmlns:a16="http://schemas.microsoft.com/office/drawing/2014/main" val="687018504"/>
                    </a:ext>
                  </a:extLst>
                </a:gridCol>
                <a:gridCol w="5959548">
                  <a:extLst>
                    <a:ext uri="{9D8B030D-6E8A-4147-A177-3AD203B41FA5}">
                      <a16:colId xmlns:a16="http://schemas.microsoft.com/office/drawing/2014/main" val="4173297094"/>
                    </a:ext>
                  </a:extLst>
                </a:gridCol>
              </a:tblGrid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Deliverable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>
                          <a:effectLst/>
                        </a:rPr>
                        <a:t>Link / Location</a:t>
                      </a:r>
                      <a:endParaRPr lang="e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2308007352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Code Repository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  <a:hlinkClick r:id="rId3"/>
                        </a:rPr>
                        <a:t>https://</a:t>
                      </a:r>
                      <a:r>
                        <a:rPr lang="en" sz="1000" u="none" strike="noStrike" dirty="0" err="1">
                          <a:effectLst/>
                          <a:hlinkClick r:id="rId3"/>
                        </a:rPr>
                        <a:t>github.com</a:t>
                      </a:r>
                      <a:r>
                        <a:rPr lang="en" sz="1000" u="none" strike="noStrike" dirty="0">
                          <a:effectLst/>
                          <a:hlinkClick r:id="rId3"/>
                        </a:rPr>
                        <a:t>/lcx-0504/Web-Service-and-Data-CW1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364178044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Commit History</a:t>
                      </a:r>
                      <a:r>
                        <a:rPr lang="zh-CN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zh-CN" sz="1000" u="none" strike="noStrike" dirty="0">
                          <a:effectLst/>
                        </a:rPr>
                        <a:t>(16 </a:t>
                      </a:r>
                      <a:r>
                        <a:rPr lang="en" altLang="zh-CN" sz="1000" u="none" strike="noStrike" dirty="0">
                          <a:effectLst/>
                        </a:rPr>
                        <a:t>commits)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  <a:hlinkClick r:id="rId4"/>
                        </a:rPr>
                        <a:t>https://</a:t>
                      </a:r>
                      <a:r>
                        <a:rPr lang="en" sz="1000" u="none" strike="noStrike" dirty="0" err="1">
                          <a:effectLst/>
                          <a:hlinkClick r:id="rId4"/>
                        </a:rPr>
                        <a:t>github.com</a:t>
                      </a:r>
                      <a:r>
                        <a:rPr lang="en" sz="1000" u="none" strike="noStrike" dirty="0">
                          <a:effectLst/>
                          <a:hlinkClick r:id="rId4"/>
                        </a:rPr>
                        <a:t>/lcx-0504/Web-Service-and-Data-CW1/commits/main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1232171003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Live API (</a:t>
                      </a:r>
                      <a:r>
                        <a:rPr lang="en" altLang="zh-CN" sz="1000" u="none" strike="noStrike" dirty="0">
                          <a:effectLst/>
                        </a:rPr>
                        <a:t>Deployed on PythonAnywhere)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  <a:hlinkClick r:id="rId5"/>
                        </a:rPr>
                        <a:t>https://lichenxi.pythonanywhere.com/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3082461793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>
                          <a:effectLst/>
                        </a:rPr>
                        <a:t>Swagger UI</a:t>
                      </a:r>
                      <a:endParaRPr lang="e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000" u="none" strike="noStrike" dirty="0">
                          <a:effectLst/>
                          <a:hlinkClick r:id="rId6"/>
                        </a:rPr>
                        <a:t>https://lichenxi.pythonanywhere.com</a:t>
                      </a:r>
                      <a:r>
                        <a:rPr lang="en" sz="1000" u="none" strike="noStrike" dirty="0">
                          <a:effectLst/>
                          <a:hlinkClick r:id="rId6"/>
                        </a:rPr>
                        <a:t>/docs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101807880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 err="1">
                          <a:effectLst/>
                        </a:rPr>
                        <a:t>ReDoc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000" u="none" strike="noStrike" dirty="0">
                          <a:effectLst/>
                          <a:hlinkClick r:id="rId7"/>
                        </a:rPr>
                        <a:t>https://lichenxi.pythonanywhere.com/redoc</a:t>
                      </a:r>
                      <a:endParaRPr lang="en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2856072526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API Documentation (PDF – 17 Endpoints)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  <a:hlinkClick r:id="rId8"/>
                        </a:rPr>
                        <a:t>https://</a:t>
                      </a:r>
                      <a:r>
                        <a:rPr lang="en" sz="1000" u="none" strike="noStrike" dirty="0" err="1">
                          <a:effectLst/>
                          <a:hlinkClick r:id="rId8"/>
                        </a:rPr>
                        <a:t>github.com</a:t>
                      </a:r>
                      <a:r>
                        <a:rPr lang="en" sz="1000" u="none" strike="noStrike" dirty="0">
                          <a:effectLst/>
                          <a:hlinkClick r:id="rId8"/>
                        </a:rPr>
                        <a:t>/lcx-0504/Web-Service-and-Data-CW1/blob/main/docs/</a:t>
                      </a:r>
                      <a:r>
                        <a:rPr lang="en" sz="1000" u="none" strike="noStrike" dirty="0" err="1">
                          <a:effectLst/>
                          <a:hlinkClick r:id="rId8"/>
                        </a:rPr>
                        <a:t>api-documentation.pdf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2020361976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Technical Report (PDF)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  <a:hlinkClick r:id="rId9"/>
                        </a:rPr>
                        <a:t>https://</a:t>
                      </a:r>
                      <a:r>
                        <a:rPr lang="en" sz="1000" u="none" strike="noStrike" dirty="0" err="1">
                          <a:effectLst/>
                          <a:hlinkClick r:id="rId9"/>
                        </a:rPr>
                        <a:t>github.com</a:t>
                      </a:r>
                      <a:r>
                        <a:rPr lang="en" sz="1000" u="none" strike="noStrike" dirty="0">
                          <a:effectLst/>
                          <a:hlinkClick r:id="rId9"/>
                        </a:rPr>
                        <a:t>/lcx-0504/Web-Service-and-Data-CW1/blob/main/docs/technical-</a:t>
                      </a:r>
                      <a:r>
                        <a:rPr lang="en" sz="1000" u="none" strike="noStrike" dirty="0" err="1">
                          <a:effectLst/>
                          <a:hlinkClick r:id="rId9"/>
                        </a:rPr>
                        <a:t>report.pdf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484170766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Presentation (PPTX)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  <a:hlinkClick r:id="rId10"/>
                        </a:rPr>
                        <a:t>https://</a:t>
                      </a:r>
                      <a:r>
                        <a:rPr lang="en" sz="1000" u="none" strike="noStrike" dirty="0" err="1">
                          <a:effectLst/>
                          <a:hlinkClick r:id="rId10"/>
                        </a:rPr>
                        <a:t>github.com</a:t>
                      </a:r>
                      <a:r>
                        <a:rPr lang="en" sz="1000" u="none" strike="noStrike" dirty="0">
                          <a:effectLst/>
                          <a:hlinkClick r:id="rId10"/>
                        </a:rPr>
                        <a:t>/lcx-0504/Web-Service-and-Data-CW1/blob/main/docs/</a:t>
                      </a:r>
                      <a:r>
                        <a:rPr lang="en" sz="1000" u="none" strike="noStrike" dirty="0" err="1">
                          <a:effectLst/>
                          <a:hlinkClick r:id="rId10"/>
                        </a:rPr>
                        <a:t>presentation.pdf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1647138704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GenAI Logs (Claude Code &amp;</a:t>
                      </a:r>
                    </a:p>
                    <a:p>
                      <a:pPr algn="ctr" fontAlgn="ctr">
                        <a:buNone/>
                      </a:pPr>
                      <a:r>
                        <a:rPr lang="en" sz="1000" u="none" strike="noStrike" dirty="0" err="1">
                          <a:effectLst/>
                        </a:rPr>
                        <a:t>Github</a:t>
                      </a:r>
                      <a:r>
                        <a:rPr lang="en" sz="1000" u="none" strike="noStrike" dirty="0">
                          <a:effectLst/>
                        </a:rPr>
                        <a:t> Copilot with Claude Opus 4.6)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  <a:hlinkClick r:id="rId11"/>
                        </a:rPr>
                        <a:t>https://</a:t>
                      </a:r>
                      <a:r>
                        <a:rPr lang="en" sz="1000" u="none" strike="noStrike" dirty="0" err="1">
                          <a:effectLst/>
                          <a:hlinkClick r:id="rId11"/>
                        </a:rPr>
                        <a:t>github.com</a:t>
                      </a:r>
                      <a:r>
                        <a:rPr lang="en" sz="1000" u="none" strike="noStrike" dirty="0">
                          <a:effectLst/>
                          <a:hlinkClick r:id="rId11"/>
                        </a:rPr>
                        <a:t>/lcx-0504/Web-Service-and-Data-CW1/tree/main/docs/</a:t>
                      </a:r>
                      <a:r>
                        <a:rPr lang="en" sz="1000" u="none" strike="noStrike" dirty="0" err="1">
                          <a:effectLst/>
                          <a:hlinkClick r:id="rId11"/>
                        </a:rPr>
                        <a:t>genai</a:t>
                      </a:r>
                      <a:r>
                        <a:rPr lang="en" sz="1000" u="none" strike="noStrike" dirty="0">
                          <a:effectLst/>
                          <a:hlinkClick r:id="rId11"/>
                        </a:rPr>
                        <a:t>-logs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2315728657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MCP Server (16 tools)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  <a:hlinkClick r:id="rId12"/>
                        </a:rPr>
                        <a:t>https://</a:t>
                      </a:r>
                      <a:r>
                        <a:rPr lang="en" sz="1000" u="none" strike="noStrike" dirty="0" err="1">
                          <a:effectLst/>
                          <a:hlinkClick r:id="rId12"/>
                        </a:rPr>
                        <a:t>github.com</a:t>
                      </a:r>
                      <a:r>
                        <a:rPr lang="en" sz="1000" u="none" strike="noStrike" dirty="0">
                          <a:effectLst/>
                          <a:hlinkClick r:id="rId12"/>
                        </a:rPr>
                        <a:t>/lcx-0504/Web-Service-and-Data-CW1/blob/main/</a:t>
                      </a:r>
                      <a:r>
                        <a:rPr lang="en" sz="1000" u="none" strike="noStrike" dirty="0" err="1">
                          <a:effectLst/>
                          <a:hlinkClick r:id="rId12"/>
                        </a:rPr>
                        <a:t>mcp_server</a:t>
                      </a:r>
                      <a:r>
                        <a:rPr lang="en" sz="1000" u="none" strike="noStrike" dirty="0">
                          <a:effectLst/>
                          <a:hlinkClick r:id="rId12"/>
                        </a:rPr>
                        <a:t>/</a:t>
                      </a:r>
                      <a:r>
                        <a:rPr lang="en" sz="1000" u="none" strike="noStrike" dirty="0" err="1">
                          <a:effectLst/>
                          <a:hlinkClick r:id="rId12"/>
                        </a:rPr>
                        <a:t>server.py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889332172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MCP Demo Video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Multiple Links Provided in README: </a:t>
                      </a:r>
                      <a:r>
                        <a:rPr lang="en-US" sz="1000" u="none" strike="noStrike" dirty="0">
                          <a:effectLst/>
                          <a:hlinkClick r:id="rId13"/>
                        </a:rPr>
                        <a:t>https://github.com/lcx-0504/Web-Service-and-Data-CW1/tree/main?tab=readme-ov-file#mcp-demo-video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1286136591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Integration Tests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Test Script: </a:t>
                      </a:r>
                      <a:r>
                        <a:rPr lang="en" sz="1000" u="none" strike="noStrike" dirty="0">
                          <a:effectLst/>
                          <a:hlinkClick r:id="rId14"/>
                        </a:rPr>
                        <a:t>https://github.com/lcx-0504/Web-Service-and-Data-CW1/blob/main/backend/tests/test_api.py</a:t>
                      </a:r>
                      <a:endParaRPr lang="en" sz="10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" altLang="zh-CN" sz="1000" u="none" strike="noStrike" dirty="0">
                          <a:effectLst/>
                        </a:rPr>
                        <a:t>Test Log: </a:t>
                      </a:r>
                      <a:r>
                        <a:rPr lang="en" altLang="zh-CN" sz="1000" u="none" strike="noStrike" dirty="0">
                          <a:effectLst/>
                          <a:hlinkClick r:id="rId15"/>
                        </a:rPr>
                        <a:t>https://</a:t>
                      </a:r>
                      <a:r>
                        <a:rPr lang="en" altLang="zh-CN" sz="1000" u="none" strike="noStrike" dirty="0" err="1">
                          <a:effectLst/>
                          <a:hlinkClick r:id="rId15"/>
                        </a:rPr>
                        <a:t>github.com</a:t>
                      </a:r>
                      <a:r>
                        <a:rPr lang="en" altLang="zh-CN" sz="1000" u="none" strike="noStrike" dirty="0">
                          <a:effectLst/>
                          <a:hlinkClick r:id="rId15"/>
                        </a:rPr>
                        <a:t>/lcx-0504/Web-Service-and-Data-CW1/blob/main/docs/test-</a:t>
                      </a:r>
                      <a:r>
                        <a:rPr lang="en" altLang="zh-CN" sz="1000" u="none" strike="noStrike" dirty="0" err="1">
                          <a:effectLst/>
                          <a:hlinkClick r:id="rId15"/>
                        </a:rPr>
                        <a:t>results.txt</a:t>
                      </a:r>
                      <a:r>
                        <a:rPr lang="en" altLang="zh-CN" sz="1000" u="none" strike="noStrike" dirty="0">
                          <a:effectLst/>
                          <a:hlinkClick r:id="rId15"/>
                        </a:rPr>
                        <a:t>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47" marR="4747" marT="4747" marB="0" anchor="ctr"/>
                </a:tc>
                <a:extLst>
                  <a:ext uri="{0D108BD9-81ED-4DB2-BD59-A6C34878D82A}">
                    <a16:rowId xmlns:a16="http://schemas.microsoft.com/office/drawing/2014/main" val="293186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434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Report Summary &amp; 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Fully tested: 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integration tests across 5 modules — all passed against PythonAnywhere.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Deployed: 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PythonAnywhere free tier with custom ASGI→WSGI bridge (3 iterations to solve).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MCP-enabled: 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tools allow AI assistants to interact with the entire API via natural language.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GenAI-assisted: 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+ Claude Code (Opus 4.6) for planning, coding, debugging, and docs.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Chenxi Li  ·  GitHub: github.com/lcx-0504/Web-Service-and-Data-CW1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1208</Words>
  <Application>Microsoft Macintosh PowerPoint</Application>
  <PresentationFormat>全屏显示(16:9)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-apple-system</vt:lpstr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NutriTrack — Food Nutrition Tracking &amp; Analysis API</dc:title>
  <dc:subject>PptxGenJS Presentation</dc:subject>
  <dc:creator>Chenxi Li</dc:creator>
  <cp:lastModifiedBy>lcx041511_nigeria@outlook.com</cp:lastModifiedBy>
  <cp:revision>8</cp:revision>
  <dcterms:created xsi:type="dcterms:W3CDTF">2026-04-14T10:09:08Z</dcterms:created>
  <dcterms:modified xsi:type="dcterms:W3CDTF">2026-04-16T19:30:19Z</dcterms:modified>
</cp:coreProperties>
</file>